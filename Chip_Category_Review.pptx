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0767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C1F33"/>
          </a:solidFill>
          <a:ln/>
        </p:spPr>
      </p:sp>
      <p:sp>
        <p:nvSpPr>
          <p:cNvPr id="3" name="Shape 1"/>
          <p:cNvSpPr/>
          <p:nvPr/>
        </p:nvSpPr>
        <p:spPr>
          <a:xfrm rot="1500000">
            <a:off x="8778240" y="-1097280"/>
            <a:ext cx="5486400" cy="54864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4" name="Shape 2"/>
          <p:cNvSpPr/>
          <p:nvPr/>
        </p:nvSpPr>
        <p:spPr>
          <a:xfrm rot="1500000">
            <a:off x="10241280" y="2194560"/>
            <a:ext cx="4114800" cy="411480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Chip Category Review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611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BD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purchasing behaviour and trial store performance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5943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6459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very different customer stories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65380" y="190792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Young Singles &amp; Couples and Mainstream Retirees drive sales through sheer customer numbers. Families drive sales through heavy, frequent per-household consumption.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86207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620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816352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clear, price-tolerant growth segment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3059974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Young &amp; Midage Singles/Couples pay significantly more per pack and over-index on Kettle, Doritos, Tostitos, Tyrrells, Cobs and Pringles.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32504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325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986784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trial worked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61710" y="4222942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77 and 88 show sustained, statistically significant sales and customer uplift in March and April. Store 86 shows a strong, real effect concentrated in March.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5202936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029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5157216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is driven by new customers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65380" y="536752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three trial stores, more shoppers — not bigger baskets — is the consistent driver of the sales increase.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1371600" y="4114800"/>
            <a:ext cx="5486400" cy="5486400"/>
          </a:xfrm>
          <a:prstGeom prst="rect">
            <a:avLst/>
          </a:prstGeom>
          <a:solidFill>
            <a:srgbClr val="1C1F3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Analysis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buys chips, and what drives their spend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different segments drive total sales — for opposite reasons</a:t>
            </a:r>
            <a:endParaRPr lang="en-US" sz="2200" dirty="0"/>
          </a:p>
        </p:txBody>
      </p:sp>
      <p:pic>
        <p:nvPicPr>
          <p:cNvPr id="5" name="Image 0" descr="/home/claude/analysis/chart1_total_sa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00200"/>
            <a:ext cx="5486400" cy="4480560"/>
          </a:xfrm>
          <a:prstGeom prst="rect">
            <a:avLst/>
          </a:prstGeom>
        </p:spPr>
      </p:pic>
      <p:pic>
        <p:nvPicPr>
          <p:cNvPr id="6" name="Image 1" descr="/home/claude/analysis/chart2_customer_c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86400" cy="4480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6144768"/>
            <a:ext cx="11064240" cy="45720"/>
          </a:xfrm>
          <a:prstGeom prst="rect">
            <a:avLst/>
          </a:prstGeom>
          <a:solidFill>
            <a:srgbClr val="F7F7F9"/>
          </a:solidFill>
          <a:ln/>
        </p:spPr>
      </p:sp>
      <p:sp>
        <p:nvSpPr>
          <p:cNvPr id="8" name="Text 4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Families &amp; Young Families (Budget) </a:t>
            </a:r>
            <a:r>
              <a:rPr lang="en-US" sz="125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top on high spend per customer. </a:t>
            </a: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Mainstream Young Singles/Couples &amp; Retirees </a:t>
            </a:r>
            <a:r>
              <a:rPr lang="en-US" sz="125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the top on customer count alone.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Families are the heaviest chip consumers, per household</a:t>
            </a:r>
            <a:endParaRPr lang="en-US" sz="2200" dirty="0"/>
          </a:p>
        </p:txBody>
      </p:sp>
      <p:pic>
        <p:nvPicPr>
          <p:cNvPr id="5" name="Image 0" descr="/home/claude/analysis/chart3_avg_uni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554480"/>
            <a:ext cx="82296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Older &amp; Young Families buy ~9 packets/customer/year — noticeably more than singles, couples, or retirees (4–7), regardless of Budget/Mainstream/Premium tier.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dive: Mainstream Young &amp; Midage Singles/Couples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price-tolerant, and currently under-leveraged relative to families</a:t>
            </a:r>
            <a:endParaRPr lang="en-US" sz="1300" dirty="0"/>
          </a:p>
        </p:txBody>
      </p:sp>
      <p:pic>
        <p:nvPicPr>
          <p:cNvPr id="6" name="Image 0" descr="/home/claude/analysis/chart4_brand_affin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60" y="1737360"/>
            <a:ext cx="6400800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1371600" y="4114800"/>
            <a:ext cx="5486400" cy="5486400"/>
          </a:xfrm>
          <a:prstGeom prst="rect">
            <a:avLst/>
          </a:prstGeom>
          <a:solidFill>
            <a:srgbClr val="1C1F3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Store Performance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38404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D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77, 86 and 88 — did the new layout increase sales?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Matched control stores to isolate the trial's true effect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16002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7F9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every full-year store by pre-trial correlation &amp; similarity in sales and customer count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9120" y="16002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7F9"/>
          </a:solidFill>
          <a:ln/>
        </p:spPr>
      </p:sp>
      <p:sp>
        <p:nvSpPr>
          <p:cNvPr id="11" name="Shape 9"/>
          <p:cNvSpPr/>
          <p:nvPr/>
        </p:nvSpPr>
        <p:spPr>
          <a:xfrm>
            <a:off x="4617720" y="1828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17720" y="2423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1772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each control store to the trial store's pre-trial baseline level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38160" y="1600200"/>
            <a:ext cx="3429000" cy="1965960"/>
          </a:xfrm>
          <a:prstGeom prst="roundRect">
            <a:avLst>
              <a:gd name="adj" fmla="val 3721"/>
            </a:avLst>
          </a:prstGeom>
          <a:solidFill>
            <a:srgbClr val="F7F7F9"/>
          </a:solidFill>
          <a:ln/>
        </p:spPr>
      </p:sp>
      <p:sp>
        <p:nvSpPr>
          <p:cNvPr id="16" name="Shape 14"/>
          <p:cNvSpPr/>
          <p:nvPr/>
        </p:nvSpPr>
        <p:spPr>
          <a:xfrm>
            <a:off x="8366760" y="1828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36676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66760" y="242316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27432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trial vs. scaled control during Feb–Apr 2019 against normal pre-trial variation (t-test)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control stores</a:t>
            </a:r>
            <a:endParaRPr lang="en-US" sz="1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389120"/>
          <a:ext cx="6583680" cy="16459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Trial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store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Pre-trial scaling factor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Trial stores 77 and 88 pulled ahead of control from March onward</a:t>
            </a:r>
            <a:endParaRPr lang="en-US" sz="2100" dirty="0"/>
          </a:p>
        </p:txBody>
      </p:sp>
      <p:pic>
        <p:nvPicPr>
          <p:cNvPr id="5" name="Image 0" descr="trial_sales_al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1124712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Shaded region = trial period (Feb–Apr 2019). Control store sales are scaled to each trial store's pre-trial baseline.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counts rose in every trial store during the trial</a:t>
            </a:r>
            <a:endParaRPr lang="en-US" sz="2100" dirty="0"/>
          </a:p>
        </p:txBody>
      </p:sp>
      <p:pic>
        <p:nvPicPr>
          <p:cNvPr id="5" name="Image 0" descr="trial_customers_all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1124712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86's customer count rose in all three trial months — even in months where total sales did not rise significantly.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C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 86 shows a real but less complete effect than 77 and 88</a:t>
            </a:r>
            <a:endParaRPr lang="en-US" sz="2100" dirty="0"/>
          </a:p>
        </p:txBody>
      </p:sp>
      <p:pic>
        <p:nvPicPr>
          <p:cNvPr id="5" name="Image 0" descr="significanc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554480"/>
            <a:ext cx="1014984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6235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77 &amp; 88: </a:t>
            </a:r>
            <a:r>
              <a:rPr lang="en-US" sz="125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AND customers significant in Mar &amp; Apr — a clean, sustained effect.   </a:t>
            </a:r>
            <a:r>
              <a:rPr lang="en-US" sz="12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86: </a:t>
            </a:r>
            <a:r>
              <a:rPr lang="en-US" sz="125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significant all 3 months, but sales only significant in March.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384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C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uplift is driven by more shoppers, not bigger baskets</a:t>
            </a:r>
            <a:endParaRPr lang="en-US" sz="2200" dirty="0"/>
          </a:p>
        </p:txBody>
      </p:sp>
      <p:pic>
        <p:nvPicPr>
          <p:cNvPr id="5" name="Image 0" descr="drive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1600200"/>
            <a:ext cx="731520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3" name="Text 1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for Julia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18288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Prioritise Kettle, Doritos, Tostitos, Tyrrells, Cobs &amp; Pringles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325880" y="2035473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stores with a strong Mainstream Young/Midage Singles &amp; Couples footprint — this segment is price-tolerant and already engaged.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297180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2915583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and grow the family segments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1325880" y="3104761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multi-buy or family-pack promotions — they are the heaviest per-household consumers and their spend is driven by basket size, not price.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4023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out the trial store layout to stores 77 and 88's profile first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325880" y="4262457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effect was sustained across two months — then investigate store 86's execution before a full rollout there.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51663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customer counts as the primary rollout success metric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325880" y="5314017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7C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uplift is driven by new shoppers, not bigger baskets, across all three trial stores.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Chip Category Review  |  Confidential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3C7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00000">
            <a:off x="8778240" y="-1097280"/>
            <a:ext cx="5486400" cy="5486400"/>
          </a:xfrm>
          <a:prstGeom prst="rect">
            <a:avLst/>
          </a:prstGeom>
          <a:solidFill>
            <a:srgbClr val="1C1F33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146304" cy="146304"/>
          </a:xfrm>
          <a:prstGeom prst="rect">
            <a:avLst/>
          </a:prstGeom>
          <a:solidFill>
            <a:srgbClr val="F9E795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ANALYTICS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703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726</Words>
  <Application>Microsoft Office PowerPoint</Application>
  <PresentationFormat>Widescreen</PresentationFormat>
  <Paragraphs>121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Karan Negi</cp:lastModifiedBy>
  <cp:revision>2</cp:revision>
  <dcterms:created xsi:type="dcterms:W3CDTF">2026-08-12T12:46:42Z</dcterms:created>
  <dcterms:modified xsi:type="dcterms:W3CDTF">2026-08-13T00:36:34Z</dcterms:modified>
</cp:coreProperties>
</file>